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rygada 1918"/>
      <p:regular r:id="rId201314"/>
    </p:embeddedFont>
    <p:embeddedFont>
      <p:font typeface="Brygada 1918 SemiBold"/>
      <p:regular r:id="rId201315"/>
    </p:embeddedFont>
    <p:embeddedFont>
      <p:font typeface="Brygada 1918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52362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Customer Shopping Behavior Analysis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805138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End-to-end analytics project: data preparation → MySQL → SQL analysis → Power BI → DAX → interactive dashboard → business insights.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9237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Project Objectives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539802"/>
            <a:ext cx="3512653" cy="1230213"/>
          </a:xfrm>
          <a:prstGeom prst="roundRect">
            <a:avLst>
              <a:gd name="adj" fmla="val 20166"/>
            </a:avLst>
          </a:prstGeom>
          <a:solidFill>
            <a:srgbClr val="626C3B"/>
          </a:solidFill>
          <a:ln w="6350">
            <a:solidFill>
              <a:srgbClr val="7B85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3119" y="2711450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Understand Purchasing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3119" y="3069134"/>
            <a:ext cx="31693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Overall customer purchasing behavior across segments.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39422" y="2539802"/>
            <a:ext cx="3512752" cy="1230213"/>
          </a:xfrm>
          <a:prstGeom prst="roundRect">
            <a:avLst>
              <a:gd name="adj" fmla="val 20166"/>
            </a:avLst>
          </a:prstGeom>
          <a:solidFill>
            <a:srgbClr val="83792E"/>
          </a:solidFill>
          <a:ln w="6350">
            <a:solidFill>
              <a:srgbClr val="9C92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11066" y="2711450"/>
            <a:ext cx="31694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Product Performance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11066" y="3069134"/>
            <a:ext cx="31694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Identify high-performing products and categories.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17468" y="2539802"/>
            <a:ext cx="3512653" cy="1230213"/>
          </a:xfrm>
          <a:prstGeom prst="roundRect">
            <a:avLst>
              <a:gd name="adj" fmla="val 20166"/>
            </a:avLst>
          </a:prstGeom>
          <a:solidFill>
            <a:srgbClr val="E8AF3B"/>
          </a:solidFill>
          <a:ln w="6350">
            <a:solidFill>
              <a:srgbClr val="CE95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9112" y="2711450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Loyalty &amp; Subscriptions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89112" y="3069134"/>
            <a:ext cx="31693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Examine repeat purchases and subscription behavior.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3935313"/>
            <a:ext cx="5351626" cy="1230213"/>
          </a:xfrm>
          <a:prstGeom prst="roundRect">
            <a:avLst>
              <a:gd name="adj" fmla="val 20166"/>
            </a:avLst>
          </a:prstGeom>
          <a:solidFill>
            <a:srgbClr val="CC914D"/>
          </a:solidFill>
          <a:ln w="6350">
            <a:solidFill>
              <a:srgbClr val="B277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119" y="4106962"/>
            <a:ext cx="50083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Discounts &amp; Preferences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3119" y="4464645"/>
            <a:ext cx="50083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Evaluate discount usage, shipping, and payment patterns.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8395" y="3935313"/>
            <a:ext cx="5351725" cy="1230213"/>
          </a:xfrm>
          <a:prstGeom prst="roundRect">
            <a:avLst>
              <a:gd name="adj" fmla="val 20166"/>
            </a:avLst>
          </a:prstGeom>
          <a:solidFill>
            <a:srgbClr val="626C3B"/>
          </a:solidFill>
          <a:ln w="6350">
            <a:solidFill>
              <a:srgbClr val="7B85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0040" y="4106962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Deliverable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0040" y="4464645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Interactive Power BI dashboard with actionable recommendations.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892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Dataset Overview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49735"/>
            <a:ext cx="6923410" cy="39233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4648" y="2197894"/>
            <a:ext cx="354182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Key facts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994648" y="2621657"/>
            <a:ext cx="354182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3,900 purchase records • 18 columns covering customer info, purchase details, and behavior. Initially 37 missing values in Review Rating.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94648" y="3564334"/>
            <a:ext cx="3541822" cy="1968004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Customer: id, age, gender, location, subscription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Purchase: item, category, amount, season, size, color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Behavior: discount, promo, prev purchases, frequency, rating, shipping, payment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2561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Data Preparation (Python)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868712"/>
            <a:ext cx="5232666" cy="1885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Exploration and cleaning using pandas: head(), info(), describe(), isnull().sum().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Missing ratings filled by 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median review rating within each product category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to preserve category patterns.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Columns standardized to lowercase snake_case for compatibility with SQL and Power BI.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3904" y="2676426"/>
            <a:ext cx="728743" cy="450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39315" y="2676426"/>
            <a:ext cx="1577539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239315" y="3358654"/>
            <a:ext cx="1577539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Added Age Group (quartiles) and Purchase Frequency Days (e.g., Weekly→7, Monthly→30).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3521" y="2676426"/>
            <a:ext cx="728743" cy="4503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58932" y="2676426"/>
            <a:ext cx="157763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Consistency Check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958932" y="3358654"/>
            <a:ext cx="157763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promo_code_used found redundant with discount_applied and removed from cleaned dataset.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892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Database Integration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49735"/>
            <a:ext cx="6923410" cy="39233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4648" y="2304157"/>
            <a:ext cx="3541822" cy="80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Cleaned DataFrame loaded into MySQL schema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customerBehaviour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into table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994648" y="3259534"/>
            <a:ext cx="3541822" cy="1116310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Python connectors: PyMySQL, SQLAlchemy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Creates a reliable database layer for SQL analysis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94648" y="4524673"/>
            <a:ext cx="354182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Workflow: CSV → Python/pandas → Cleaning &amp; features → MySQL (customerBehaviour.customer)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7317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SQL Analysis Highlights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20602"/>
            <a:ext cx="2593216" cy="17786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2304951"/>
            <a:ext cx="2148330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High-Spending with Discounts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22017" y="2921099"/>
            <a:ext cx="214833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Customers using discounts whose purchase &gt;= overall average.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9985" y="2120602"/>
            <a:ext cx="2593216" cy="17786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80527" y="2304951"/>
            <a:ext cx="2148330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Top Products by Rating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680527" y="2921099"/>
            <a:ext cx="214833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Average rating per item; top 5 products.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8495" y="2120602"/>
            <a:ext cx="2593216" cy="17786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39037" y="2304951"/>
            <a:ext cx="214833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Shipping &amp; Revenue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439037" y="2662634"/>
            <a:ext cx="214833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Average purchase amount: Standard vs Express shipping.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37005" y="2120602"/>
            <a:ext cx="2593216" cy="177869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97546" y="2304951"/>
            <a:ext cx="214833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Subscriber Analysis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9197546" y="2662634"/>
            <a:ext cx="214833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By subscription: count, avg purchase amount, total revenue.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064595"/>
            <a:ext cx="2593216" cy="152023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22017" y="4248944"/>
            <a:ext cx="214833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Segments &amp; Rankings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922017" y="4606627"/>
            <a:ext cx="214833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Customer segments and top-3 products per category via ROW_NUMBER().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241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Power BI &amp; DAX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88505"/>
            <a:ext cx="4669018" cy="2645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40256" y="2122488"/>
            <a:ext cx="579621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40256" y="2546251"/>
            <a:ext cx="640579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Imported MySQL table into Power BI to build a four-page interactive report.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740256" y="2976166"/>
            <a:ext cx="579621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Core DAX Measures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40256" y="3399929"/>
            <a:ext cx="5796214" cy="1438771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No. of customers = COUNT('customerBehaviour customer'[customer_id])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Avg purchase amount = AVERAGE('customerBehaviour customer'[purchase_amount])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Avg review rating = AVERAGE('customerBehaviour customer'[review_rating])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40256" y="4987528"/>
            <a:ext cx="579621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Additional measures support revenue, discounts, subscriptions, and frequency KPIs.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1628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Dashboard Pages &amp; Visuals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63713"/>
            <a:ext cx="1127295" cy="696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467100"/>
            <a:ext cx="2562161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Page 1: Executive Overview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475" y="4083248"/>
            <a:ext cx="256216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Number of customers, total revenue, avg purchase, avg rating, subscription rate; high-level comparisons by demographics.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303" y="2563713"/>
            <a:ext cx="1127295" cy="6967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0303" y="3467100"/>
            <a:ext cx="2562161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Page 2: Customer &amp; Loyalty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430303" y="4083248"/>
            <a:ext cx="256216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Segments, subscription behavior, demographics, new vs returning vs loyal analysis.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132" y="2563713"/>
            <a:ext cx="1127295" cy="6967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99132" y="3467100"/>
            <a:ext cx="2562161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Page 3: Product &amp; Category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199132" y="4083248"/>
            <a:ext cx="256216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Top products (Top5/Top10 toggle), treemap for category revenue, discount rate and rating comparisons.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7960" y="2563713"/>
            <a:ext cx="1127394" cy="6967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67960" y="3467100"/>
            <a:ext cx="2562260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Page 4: Purchase Behavior &amp; Revenue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8967960" y="4083248"/>
            <a:ext cx="256226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Scatter of prev purchases vs amount, decomposition tree, revenue by payment method, frequency KPIs.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835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Interactivity &amp; UX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85975"/>
            <a:ext cx="6134343" cy="34506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5581" y="2028428"/>
            <a:ext cx="43308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Interactive Features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205581" y="2452191"/>
            <a:ext cx="4330889" cy="1761232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Slicers for Age Group, Gender, Category, Subscription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Page navigation buttons for seamless flow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Bookmark-based Top 5 / Top 10 toggle implemented with overlapping visuals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Decomposition Tree for ad-hoc revenue exploration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205581" y="4399459"/>
            <a:ext cx="4330889" cy="1174055"/>
          </a:xfrm>
          <a:prstGeom prst="roundRect">
            <a:avLst>
              <a:gd name="adj" fmla="val 21131"/>
            </a:avLst>
          </a:prstGeom>
          <a:solidFill>
            <a:srgbClr val="EAEDD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876" y="4645521"/>
            <a:ext cx="206667" cy="1652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42838" y="4589562"/>
            <a:ext cx="362833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Design emphasizes clean interaction and focused visuals to answer business questions quickly.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033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Key Takeaways &amp; Recommendations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139057"/>
            <a:ext cx="82647" cy="82649"/>
          </a:xfrm>
          <a:prstGeom prst="ellipse">
            <a:avLst/>
          </a:prstGeom>
          <a:solidFill>
            <a:srgbClr val="626C3B"/>
          </a:solidFill>
          <a:ln/>
        </p:spPr>
      </p:sp>
      <p:sp>
        <p:nvSpPr>
          <p:cNvPr id="4" name="Text 2"/>
          <p:cNvSpPr/>
          <p:nvPr/>
        </p:nvSpPr>
        <p:spPr>
          <a:xfrm>
            <a:off x="909416" y="2051149"/>
            <a:ext cx="35612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Strengthen Loyalty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09416" y="2474913"/>
            <a:ext cx="356126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Target returning customers with loyalty initiatives to convert them into long-term loyal customers.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77353" y="2139057"/>
            <a:ext cx="82647" cy="82649"/>
          </a:xfrm>
          <a:prstGeom prst="ellipse">
            <a:avLst/>
          </a:prstGeom>
          <a:solidFill>
            <a:srgbClr val="83792E"/>
          </a:solidFill>
          <a:ln/>
        </p:spPr>
      </p:sp>
      <p:sp>
        <p:nvSpPr>
          <p:cNvPr id="7" name="Text 5"/>
          <p:cNvSpPr/>
          <p:nvPr/>
        </p:nvSpPr>
        <p:spPr>
          <a:xfrm>
            <a:off x="4925294" y="2051149"/>
            <a:ext cx="35613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Optimize Subscriptions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25294" y="2474913"/>
            <a:ext cx="356136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Analyze subscriber vs non-subscriber spend to improve adoption strategies.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687366"/>
            <a:ext cx="82647" cy="82649"/>
          </a:xfrm>
          <a:prstGeom prst="ellipse">
            <a:avLst/>
          </a:prstGeom>
          <a:solidFill>
            <a:srgbClr val="E8AF3B"/>
          </a:solidFill>
          <a:ln/>
        </p:spPr>
      </p:sp>
      <p:sp>
        <p:nvSpPr>
          <p:cNvPr id="10" name="Text 8"/>
          <p:cNvSpPr/>
          <p:nvPr/>
        </p:nvSpPr>
        <p:spPr>
          <a:xfrm>
            <a:off x="909416" y="3599458"/>
            <a:ext cx="35612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Review Discount Strategy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9416" y="4023221"/>
            <a:ext cx="356126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Investigate high-discount products to ensure discounts drive meaningful revenue.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77353" y="3687366"/>
            <a:ext cx="82647" cy="82649"/>
          </a:xfrm>
          <a:prstGeom prst="ellipse">
            <a:avLst/>
          </a:prstGeom>
          <a:solidFill>
            <a:srgbClr val="CC914D"/>
          </a:solidFill>
          <a:ln/>
        </p:spPr>
      </p:sp>
      <p:sp>
        <p:nvSpPr>
          <p:cNvPr id="13" name="Text 11"/>
          <p:cNvSpPr/>
          <p:nvPr/>
        </p:nvSpPr>
        <p:spPr>
          <a:xfrm>
            <a:off x="4925294" y="3599458"/>
            <a:ext cx="35613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Promote Top Products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25294" y="4023221"/>
            <a:ext cx="356136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Feature high-revenue, highly rated items in campaigns to maximize ROI.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1475" y="4971058"/>
            <a:ext cx="82647" cy="82649"/>
          </a:xfrm>
          <a:prstGeom prst="ellipse">
            <a:avLst/>
          </a:prstGeom>
          <a:solidFill>
            <a:srgbClr val="626C3B"/>
          </a:solidFill>
          <a:ln/>
        </p:spPr>
      </p:sp>
      <p:sp>
        <p:nvSpPr>
          <p:cNvPr id="16" name="Text 14"/>
          <p:cNvSpPr/>
          <p:nvPr/>
        </p:nvSpPr>
        <p:spPr>
          <a:xfrm>
            <a:off x="909416" y="4883150"/>
            <a:ext cx="757724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Target High-Value Groups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9416" y="5306913"/>
            <a:ext cx="75772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Use demographic and purchase patterns to focus marketing on revenue-driving segments.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96425" y="2030413"/>
            <a:ext cx="264004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96425" y="2454176"/>
            <a:ext cx="2640046" cy="2646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This project demonstrates an end-to-end analytics workflow and delivers a four-page Power BI dashboard that empowers business users to explore customer behavior, product performance, revenue drivers, and discount/subscription dynamics using Python, SQL, MySQL, Power BI, and DAX.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2026-08-13T11:14:26Z</dcterms:created>
  <dcterms:modified xsi:type="dcterms:W3CDTF">2026-08-13T11:14:26Z</dcterms:modified>
</cp:coreProperties>
</file>